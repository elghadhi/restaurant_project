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ocomat Pro Bold" charset="1" panose="00000700000000000000"/>
      <p:regular r:id="rId13"/>
    </p:embeddedFont>
    <p:embeddedFont>
      <p:font typeface="Times New Roman MT" charset="1" panose="02030502070405020303"/>
      <p:regular r:id="rId14"/>
    </p:embeddedFont>
    <p:embeddedFont>
      <p:font typeface="Quicksand" charset="1" panose="00000000000000000000"/>
      <p:regular r:id="rId15"/>
    </p:embeddedFont>
    <p:embeddedFont>
      <p:font typeface="Montaser Arabic"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357" y="-316594"/>
            <a:ext cx="18966714" cy="10920189"/>
            <a:chOff x="0" y="0"/>
            <a:chExt cx="4995349" cy="2876099"/>
          </a:xfrm>
        </p:grpSpPr>
        <p:sp>
          <p:nvSpPr>
            <p:cNvPr name="Freeform 3" id="3"/>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4" id="4"/>
            <p:cNvSpPr txBox="true"/>
            <p:nvPr/>
          </p:nvSpPr>
          <p:spPr>
            <a:xfrm>
              <a:off x="0" y="-38100"/>
              <a:ext cx="4995349" cy="291419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82863">
            <a:off x="9433337" y="2214631"/>
            <a:ext cx="7742573" cy="6319909"/>
          </a:xfrm>
          <a:custGeom>
            <a:avLst/>
            <a:gdLst/>
            <a:ahLst/>
            <a:cxnLst/>
            <a:rect r="r" b="b" t="t" l="l"/>
            <a:pathLst>
              <a:path h="6319909" w="7742573">
                <a:moveTo>
                  <a:pt x="0" y="0"/>
                </a:moveTo>
                <a:lnTo>
                  <a:pt x="7742573" y="0"/>
                </a:lnTo>
                <a:lnTo>
                  <a:pt x="7742573" y="6319909"/>
                </a:lnTo>
                <a:lnTo>
                  <a:pt x="0" y="63199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7715004"/>
            <a:ext cx="4626029" cy="1319657"/>
            <a:chOff x="0" y="0"/>
            <a:chExt cx="1218378" cy="347564"/>
          </a:xfrm>
        </p:grpSpPr>
        <p:sp>
          <p:nvSpPr>
            <p:cNvPr name="Freeform 7" id="7"/>
            <p:cNvSpPr/>
            <p:nvPr/>
          </p:nvSpPr>
          <p:spPr>
            <a:xfrm flipH="false" flipV="false" rot="0">
              <a:off x="0" y="0"/>
              <a:ext cx="1218378" cy="347564"/>
            </a:xfrm>
            <a:custGeom>
              <a:avLst/>
              <a:gdLst/>
              <a:ahLst/>
              <a:cxnLst/>
              <a:rect r="r" b="b" t="t" l="l"/>
              <a:pathLst>
                <a:path h="347564" w="1218378">
                  <a:moveTo>
                    <a:pt x="25103" y="0"/>
                  </a:moveTo>
                  <a:lnTo>
                    <a:pt x="1193275" y="0"/>
                  </a:lnTo>
                  <a:cubicBezTo>
                    <a:pt x="1199933" y="0"/>
                    <a:pt x="1206318" y="2645"/>
                    <a:pt x="1211025" y="7353"/>
                  </a:cubicBezTo>
                  <a:cubicBezTo>
                    <a:pt x="1215733" y="12060"/>
                    <a:pt x="1218378" y="18446"/>
                    <a:pt x="1218378" y="25103"/>
                  </a:cubicBezTo>
                  <a:lnTo>
                    <a:pt x="1218378" y="322461"/>
                  </a:lnTo>
                  <a:cubicBezTo>
                    <a:pt x="1218378" y="329118"/>
                    <a:pt x="1215733" y="335504"/>
                    <a:pt x="1211025" y="340211"/>
                  </a:cubicBezTo>
                  <a:cubicBezTo>
                    <a:pt x="1206318" y="344919"/>
                    <a:pt x="1199933" y="347564"/>
                    <a:pt x="1193275" y="347564"/>
                  </a:cubicBezTo>
                  <a:lnTo>
                    <a:pt x="25103" y="347564"/>
                  </a:lnTo>
                  <a:cubicBezTo>
                    <a:pt x="18446" y="347564"/>
                    <a:pt x="12060" y="344919"/>
                    <a:pt x="7353" y="340211"/>
                  </a:cubicBezTo>
                  <a:cubicBezTo>
                    <a:pt x="2645" y="335504"/>
                    <a:pt x="0" y="329118"/>
                    <a:pt x="0" y="322461"/>
                  </a:cubicBezTo>
                  <a:lnTo>
                    <a:pt x="0" y="25103"/>
                  </a:lnTo>
                  <a:cubicBezTo>
                    <a:pt x="0" y="18446"/>
                    <a:pt x="2645" y="12060"/>
                    <a:pt x="7353" y="7353"/>
                  </a:cubicBezTo>
                  <a:cubicBezTo>
                    <a:pt x="12060" y="2645"/>
                    <a:pt x="18446" y="0"/>
                    <a:pt x="25103" y="0"/>
                  </a:cubicBezTo>
                  <a:close/>
                </a:path>
              </a:pathLst>
            </a:custGeom>
            <a:solidFill>
              <a:srgbClr val="000000">
                <a:alpha val="0"/>
              </a:srgbClr>
            </a:solidFill>
            <a:ln w="38100" cap="sq">
              <a:solidFill>
                <a:srgbClr val="7969C4"/>
              </a:solidFill>
              <a:prstDash val="solid"/>
              <a:miter/>
            </a:ln>
          </p:spPr>
        </p:sp>
        <p:sp>
          <p:nvSpPr>
            <p:cNvPr name="TextBox 8" id="8"/>
            <p:cNvSpPr txBox="true"/>
            <p:nvPr/>
          </p:nvSpPr>
          <p:spPr>
            <a:xfrm>
              <a:off x="0" y="-38100"/>
              <a:ext cx="1218378" cy="38566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4899369"/>
            <a:ext cx="8115300" cy="2513468"/>
          </a:xfrm>
          <a:prstGeom prst="rect">
            <a:avLst/>
          </a:prstGeom>
        </p:spPr>
        <p:txBody>
          <a:bodyPr anchor="t" rtlCol="false" tIns="0" lIns="0" bIns="0" rIns="0">
            <a:spAutoFit/>
          </a:bodyPr>
          <a:lstStyle/>
          <a:p>
            <a:pPr algn="l">
              <a:lnSpc>
                <a:spcPts val="4944"/>
              </a:lnSpc>
            </a:pPr>
            <a:r>
              <a:rPr lang="en-US" sz="4800" b="true">
                <a:solidFill>
                  <a:srgbClr val="004AAD"/>
                </a:solidFill>
                <a:latin typeface="Cocomat Pro Bold"/>
                <a:ea typeface="Cocomat Pro Bold"/>
                <a:cs typeface="Cocomat Pro Bold"/>
                <a:sym typeface="Cocomat Pro Bold"/>
              </a:rPr>
              <a:t>Rapport sur  le développement de deux sites web statiques en HTML et CSS</a:t>
            </a:r>
          </a:p>
        </p:txBody>
      </p:sp>
      <p:sp>
        <p:nvSpPr>
          <p:cNvPr name="TextBox 10" id="10"/>
          <p:cNvSpPr txBox="true"/>
          <p:nvPr/>
        </p:nvSpPr>
        <p:spPr>
          <a:xfrm rot="0">
            <a:off x="1312890" y="8207118"/>
            <a:ext cx="4057650" cy="418170"/>
          </a:xfrm>
          <a:prstGeom prst="rect">
            <a:avLst/>
          </a:prstGeom>
        </p:spPr>
        <p:txBody>
          <a:bodyPr anchor="t" rtlCol="false" tIns="0" lIns="0" bIns="0" rIns="0">
            <a:spAutoFit/>
          </a:bodyPr>
          <a:lstStyle/>
          <a:p>
            <a:pPr algn="l">
              <a:lnSpc>
                <a:spcPts val="3139"/>
              </a:lnSpc>
            </a:pPr>
            <a:r>
              <a:rPr lang="en-US" sz="3047" b="true">
                <a:solidFill>
                  <a:srgbClr val="7969C4"/>
                </a:solidFill>
                <a:latin typeface="Cocomat Pro Bold"/>
                <a:ea typeface="Cocomat Pro Bold"/>
                <a:cs typeface="Cocomat Pro Bold"/>
                <a:sym typeface="Cocomat Pro Bold"/>
              </a:rPr>
              <a:t>Présenté par Ghadhi</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39357" y="-316594"/>
            <a:ext cx="18966714" cy="10920189"/>
            <a:chOff x="0" y="0"/>
            <a:chExt cx="4995349" cy="2876099"/>
          </a:xfrm>
        </p:grpSpPr>
        <p:sp>
          <p:nvSpPr>
            <p:cNvPr name="Freeform 3" id="3"/>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4" id="4"/>
            <p:cNvSpPr txBox="true"/>
            <p:nvPr/>
          </p:nvSpPr>
          <p:spPr>
            <a:xfrm>
              <a:off x="0" y="-38100"/>
              <a:ext cx="4995349" cy="291419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014982"/>
            <a:ext cx="8317911" cy="1095834"/>
          </a:xfrm>
          <a:prstGeom prst="rect">
            <a:avLst/>
          </a:prstGeom>
        </p:spPr>
        <p:txBody>
          <a:bodyPr anchor="t" rtlCol="false" tIns="0" lIns="0" bIns="0" rIns="0">
            <a:spAutoFit/>
          </a:bodyPr>
          <a:lstStyle/>
          <a:p>
            <a:pPr algn="l">
              <a:lnSpc>
                <a:spcPts val="8240"/>
              </a:lnSpc>
            </a:pPr>
            <a:r>
              <a:rPr lang="en-US" sz="8000" b="true">
                <a:solidFill>
                  <a:srgbClr val="004AAD"/>
                </a:solidFill>
                <a:latin typeface="Cocomat Pro Bold"/>
                <a:ea typeface="Cocomat Pro Bold"/>
                <a:cs typeface="Cocomat Pro Bold"/>
                <a:sym typeface="Cocomat Pro Bold"/>
              </a:rPr>
              <a:t>introduction</a:t>
            </a:r>
          </a:p>
        </p:txBody>
      </p:sp>
      <p:sp>
        <p:nvSpPr>
          <p:cNvPr name="TextBox 6" id="6"/>
          <p:cNvSpPr txBox="true"/>
          <p:nvPr/>
        </p:nvSpPr>
        <p:spPr>
          <a:xfrm rot="0">
            <a:off x="1830302" y="2091766"/>
            <a:ext cx="14020385" cy="7037750"/>
          </a:xfrm>
          <a:prstGeom prst="rect">
            <a:avLst/>
          </a:prstGeom>
        </p:spPr>
        <p:txBody>
          <a:bodyPr anchor="t" rtlCol="false" tIns="0" lIns="0" bIns="0" rIns="0">
            <a:spAutoFit/>
          </a:bodyPr>
          <a:lstStyle/>
          <a:p>
            <a:pPr algn="l">
              <a:lnSpc>
                <a:spcPts val="4968"/>
              </a:lnSpc>
            </a:pPr>
            <a:r>
              <a:rPr lang="en-US" sz="4823">
                <a:solidFill>
                  <a:srgbClr val="004AAD"/>
                </a:solidFill>
                <a:latin typeface="Times New Roman MT"/>
                <a:ea typeface="Times New Roman MT"/>
                <a:cs typeface="Times New Roman MT"/>
                <a:sym typeface="Times New Roman MT"/>
              </a:rPr>
              <a:t>Ce rapport présente deux projets web simples que j’ai réalisés en utilisant uniquement HTML et CSS. L’objectif principal de ces projets est de mettre en pratique les bases du développement web front-end : la structuration des pages avec HTML, la mise en forme avec CSS, et l’organisation de la navigation entre les différentes sections d’un site.</a:t>
            </a:r>
          </a:p>
          <a:p>
            <a:pPr algn="l">
              <a:lnSpc>
                <a:spcPts val="4968"/>
              </a:lnSpc>
            </a:pPr>
            <a:r>
              <a:rPr lang="en-US" sz="4823">
                <a:solidFill>
                  <a:srgbClr val="004AAD"/>
                </a:solidFill>
                <a:latin typeface="Times New Roman MT"/>
                <a:ea typeface="Times New Roman MT"/>
                <a:cs typeface="Times New Roman MT"/>
                <a:sym typeface="Times New Roman MT"/>
              </a:rPr>
              <a:t>Les deux projets sont :</a:t>
            </a:r>
          </a:p>
          <a:p>
            <a:pPr algn="l" marL="1041451" indent="-520726" lvl="1">
              <a:lnSpc>
                <a:spcPts val="4968"/>
              </a:lnSpc>
              <a:buAutoNum type="arabicPeriod" startAt="1"/>
            </a:pPr>
            <a:r>
              <a:rPr lang="en-US" sz="4823">
                <a:solidFill>
                  <a:srgbClr val="004AAD"/>
                </a:solidFill>
                <a:latin typeface="Times New Roman MT"/>
                <a:ea typeface="Times New Roman MT"/>
                <a:cs typeface="Times New Roman MT"/>
                <a:sym typeface="Times New Roman MT"/>
              </a:rPr>
              <a:t>Un projet de site web pour un restaurant.</a:t>
            </a:r>
          </a:p>
          <a:p>
            <a:pPr algn="l" marL="1041451" indent="-520726" lvl="1">
              <a:lnSpc>
                <a:spcPts val="4968"/>
              </a:lnSpc>
              <a:buAutoNum type="arabicPeriod" startAt="1"/>
            </a:pPr>
            <a:r>
              <a:rPr lang="en-US" sz="4823">
                <a:solidFill>
                  <a:srgbClr val="004AAD"/>
                </a:solidFill>
                <a:latin typeface="Times New Roman MT"/>
                <a:ea typeface="Times New Roman MT"/>
                <a:cs typeface="Times New Roman MT"/>
                <a:sym typeface="Times New Roman MT"/>
              </a:rPr>
              <a:t>Un site web personnel (portfolio simple).</a:t>
            </a:r>
          </a:p>
          <a:p>
            <a:pPr algn="l">
              <a:lnSpc>
                <a:spcPts val="4968"/>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57314" y="1381862"/>
            <a:ext cx="5898138" cy="7713776"/>
            <a:chOff x="0" y="0"/>
            <a:chExt cx="4880610" cy="6383020"/>
          </a:xfrm>
        </p:grpSpPr>
        <p:sp>
          <p:nvSpPr>
            <p:cNvPr name="Freeform 3" id="3"/>
            <p:cNvSpPr/>
            <p:nvPr/>
          </p:nvSpPr>
          <p:spPr>
            <a:xfrm flipH="false" flipV="false" rot="0">
              <a:off x="0" y="0"/>
              <a:ext cx="4879340" cy="6383238"/>
            </a:xfrm>
            <a:custGeom>
              <a:avLst/>
              <a:gdLst/>
              <a:ahLst/>
              <a:cxnLst/>
              <a:rect r="r" b="b" t="t" l="l"/>
              <a:pathLst>
                <a:path h="6383238" w="4879340">
                  <a:moveTo>
                    <a:pt x="1705610" y="2045970"/>
                  </a:moveTo>
                  <a:cubicBezTo>
                    <a:pt x="1300480" y="1916430"/>
                    <a:pt x="937260" y="1748790"/>
                    <a:pt x="618490" y="1541780"/>
                  </a:cubicBezTo>
                  <a:lnTo>
                    <a:pt x="618490" y="0"/>
                  </a:lnTo>
                  <a:cubicBezTo>
                    <a:pt x="1761490" y="477520"/>
                    <a:pt x="2952750" y="1047750"/>
                    <a:pt x="4199890" y="1188720"/>
                  </a:cubicBezTo>
                  <a:cubicBezTo>
                    <a:pt x="4578350" y="1230630"/>
                    <a:pt x="4865370" y="1550670"/>
                    <a:pt x="4865370" y="1930400"/>
                  </a:cubicBezTo>
                  <a:cubicBezTo>
                    <a:pt x="4865370" y="2198370"/>
                    <a:pt x="4711700" y="2442210"/>
                    <a:pt x="4469130" y="2557780"/>
                  </a:cubicBezTo>
                  <a:cubicBezTo>
                    <a:pt x="4328160" y="2625090"/>
                    <a:pt x="4178300" y="2693670"/>
                    <a:pt x="4071620" y="2733040"/>
                  </a:cubicBezTo>
                  <a:lnTo>
                    <a:pt x="4164330" y="2733040"/>
                  </a:lnTo>
                  <a:cubicBezTo>
                    <a:pt x="4560570" y="2735580"/>
                    <a:pt x="4879340" y="3056890"/>
                    <a:pt x="4879340" y="3453130"/>
                  </a:cubicBezTo>
                  <a:lnTo>
                    <a:pt x="4879340" y="3708400"/>
                  </a:lnTo>
                  <a:cubicBezTo>
                    <a:pt x="4879340" y="4017010"/>
                    <a:pt x="4682490" y="4291330"/>
                    <a:pt x="4390390" y="4389120"/>
                  </a:cubicBezTo>
                  <a:cubicBezTo>
                    <a:pt x="3708400" y="4622800"/>
                    <a:pt x="2984500" y="4791710"/>
                    <a:pt x="2231390" y="4909820"/>
                  </a:cubicBezTo>
                  <a:cubicBezTo>
                    <a:pt x="2881630" y="5016500"/>
                    <a:pt x="3553460" y="5017770"/>
                    <a:pt x="4246880" y="4904740"/>
                  </a:cubicBezTo>
                  <a:lnTo>
                    <a:pt x="4246880" y="6311900"/>
                  </a:lnTo>
                  <a:cubicBezTo>
                    <a:pt x="2879090" y="6484620"/>
                    <a:pt x="1550670" y="6370320"/>
                    <a:pt x="302260" y="5673090"/>
                  </a:cubicBezTo>
                  <a:cubicBezTo>
                    <a:pt x="115570" y="5570220"/>
                    <a:pt x="0" y="5373370"/>
                    <a:pt x="0" y="5161280"/>
                  </a:cubicBezTo>
                  <a:cubicBezTo>
                    <a:pt x="0" y="4523740"/>
                    <a:pt x="491490" y="3992880"/>
                    <a:pt x="1126490" y="3944620"/>
                  </a:cubicBezTo>
                  <a:cubicBezTo>
                    <a:pt x="1397000" y="3924300"/>
                    <a:pt x="1662430" y="3896360"/>
                    <a:pt x="1922780" y="3860800"/>
                  </a:cubicBezTo>
                  <a:lnTo>
                    <a:pt x="880110" y="3854450"/>
                  </a:lnTo>
                  <a:cubicBezTo>
                    <a:pt x="393700" y="3849370"/>
                    <a:pt x="0" y="3454400"/>
                    <a:pt x="0" y="2966720"/>
                  </a:cubicBezTo>
                  <a:cubicBezTo>
                    <a:pt x="0" y="2528570"/>
                    <a:pt x="340360" y="2166620"/>
                    <a:pt x="777240" y="2138680"/>
                  </a:cubicBezTo>
                  <a:cubicBezTo>
                    <a:pt x="1089660" y="2118360"/>
                    <a:pt x="1399540" y="2087880"/>
                    <a:pt x="1705610" y="2045970"/>
                  </a:cubicBezTo>
                  <a:close/>
                </a:path>
              </a:pathLst>
            </a:custGeom>
            <a:blipFill>
              <a:blip r:embed="rId2"/>
              <a:stretch>
                <a:fillRect l="0" t="-7258" r="0" b="-7258"/>
              </a:stretch>
            </a:blipFill>
          </p:spPr>
        </p:sp>
      </p:grpSp>
      <p:grpSp>
        <p:nvGrpSpPr>
          <p:cNvPr name="Group 4" id="4"/>
          <p:cNvGrpSpPr/>
          <p:nvPr/>
        </p:nvGrpSpPr>
        <p:grpSpPr>
          <a:xfrm rot="0">
            <a:off x="-678714" y="-633189"/>
            <a:ext cx="18966714" cy="10920189"/>
            <a:chOff x="0" y="0"/>
            <a:chExt cx="4995349" cy="2876099"/>
          </a:xfrm>
        </p:grpSpPr>
        <p:sp>
          <p:nvSpPr>
            <p:cNvPr name="Freeform 5" id="5"/>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6" id="6"/>
            <p:cNvSpPr txBox="true"/>
            <p:nvPr/>
          </p:nvSpPr>
          <p:spPr>
            <a:xfrm>
              <a:off x="0" y="-38100"/>
              <a:ext cx="4995349" cy="2914199"/>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331835" y="4177042"/>
            <a:ext cx="10274230" cy="5081258"/>
          </a:xfrm>
          <a:custGeom>
            <a:avLst/>
            <a:gdLst/>
            <a:ahLst/>
            <a:cxnLst/>
            <a:rect r="r" b="b" t="t" l="l"/>
            <a:pathLst>
              <a:path h="5081258" w="10274230">
                <a:moveTo>
                  <a:pt x="0" y="0"/>
                </a:moveTo>
                <a:lnTo>
                  <a:pt x="10274230" y="0"/>
                </a:lnTo>
                <a:lnTo>
                  <a:pt x="10274230" y="5081258"/>
                </a:lnTo>
                <a:lnTo>
                  <a:pt x="0" y="5081258"/>
                </a:lnTo>
                <a:lnTo>
                  <a:pt x="0" y="0"/>
                </a:lnTo>
                <a:close/>
              </a:path>
            </a:pathLst>
          </a:custGeom>
          <a:blipFill>
            <a:blip r:embed="rId3"/>
            <a:stretch>
              <a:fillRect l="-1381" t="-16880" r="-1381" b="0"/>
            </a:stretch>
          </a:blipFill>
        </p:spPr>
      </p:sp>
      <p:sp>
        <p:nvSpPr>
          <p:cNvPr name="Freeform 8" id="8"/>
          <p:cNvSpPr/>
          <p:nvPr/>
        </p:nvSpPr>
        <p:spPr>
          <a:xfrm flipH="false" flipV="false" rot="0">
            <a:off x="10937906" y="560003"/>
            <a:ext cx="6592299" cy="5147626"/>
          </a:xfrm>
          <a:custGeom>
            <a:avLst/>
            <a:gdLst/>
            <a:ahLst/>
            <a:cxnLst/>
            <a:rect r="r" b="b" t="t" l="l"/>
            <a:pathLst>
              <a:path h="5147626" w="6592299">
                <a:moveTo>
                  <a:pt x="0" y="0"/>
                </a:moveTo>
                <a:lnTo>
                  <a:pt x="6592299" y="0"/>
                </a:lnTo>
                <a:lnTo>
                  <a:pt x="6592299" y="5147626"/>
                </a:lnTo>
                <a:lnTo>
                  <a:pt x="0" y="5147626"/>
                </a:lnTo>
                <a:lnTo>
                  <a:pt x="0" y="0"/>
                </a:lnTo>
                <a:close/>
              </a:path>
            </a:pathLst>
          </a:custGeom>
          <a:blipFill>
            <a:blip r:embed="rId4"/>
            <a:stretch>
              <a:fillRect l="-11971" t="0" r="-26846" b="0"/>
            </a:stretch>
          </a:blipFill>
        </p:spPr>
      </p:sp>
      <p:sp>
        <p:nvSpPr>
          <p:cNvPr name="Freeform 9" id="9"/>
          <p:cNvSpPr/>
          <p:nvPr/>
        </p:nvSpPr>
        <p:spPr>
          <a:xfrm flipH="false" flipV="false" rot="0">
            <a:off x="10716958" y="5707629"/>
            <a:ext cx="6813246" cy="3952138"/>
          </a:xfrm>
          <a:custGeom>
            <a:avLst/>
            <a:gdLst/>
            <a:ahLst/>
            <a:cxnLst/>
            <a:rect r="r" b="b" t="t" l="l"/>
            <a:pathLst>
              <a:path h="3952138" w="6813246">
                <a:moveTo>
                  <a:pt x="0" y="0"/>
                </a:moveTo>
                <a:lnTo>
                  <a:pt x="6813247" y="0"/>
                </a:lnTo>
                <a:lnTo>
                  <a:pt x="6813247" y="3952138"/>
                </a:lnTo>
                <a:lnTo>
                  <a:pt x="0" y="3952138"/>
                </a:lnTo>
                <a:lnTo>
                  <a:pt x="0" y="0"/>
                </a:lnTo>
                <a:close/>
              </a:path>
            </a:pathLst>
          </a:custGeom>
          <a:blipFill>
            <a:blip r:embed="rId5"/>
            <a:stretch>
              <a:fillRect l="-5508" t="0" r="-5508" b="0"/>
            </a:stretch>
          </a:blipFill>
        </p:spPr>
      </p:sp>
      <p:sp>
        <p:nvSpPr>
          <p:cNvPr name="TextBox 10" id="10"/>
          <p:cNvSpPr txBox="true"/>
          <p:nvPr/>
        </p:nvSpPr>
        <p:spPr>
          <a:xfrm rot="0">
            <a:off x="663675" y="662557"/>
            <a:ext cx="9668981" cy="564720"/>
          </a:xfrm>
          <a:prstGeom prst="rect">
            <a:avLst/>
          </a:prstGeom>
        </p:spPr>
        <p:txBody>
          <a:bodyPr anchor="t" rtlCol="false" tIns="0" lIns="0" bIns="0" rIns="0">
            <a:spAutoFit/>
          </a:bodyPr>
          <a:lstStyle/>
          <a:p>
            <a:pPr algn="l">
              <a:lnSpc>
                <a:spcPts val="4223"/>
              </a:lnSpc>
            </a:pPr>
            <a:r>
              <a:rPr lang="en-US" sz="4100" b="true">
                <a:solidFill>
                  <a:srgbClr val="004AAD"/>
                </a:solidFill>
                <a:latin typeface="Cocomat Pro Bold"/>
                <a:ea typeface="Cocomat Pro Bold"/>
                <a:cs typeface="Cocomat Pro Bold"/>
                <a:sym typeface="Cocomat Pro Bold"/>
              </a:rPr>
              <a:t>1. Projet 1 : Site Web de Restaurant</a:t>
            </a:r>
          </a:p>
        </p:txBody>
      </p:sp>
      <p:sp>
        <p:nvSpPr>
          <p:cNvPr name="TextBox 11" id="11"/>
          <p:cNvSpPr txBox="true"/>
          <p:nvPr/>
        </p:nvSpPr>
        <p:spPr>
          <a:xfrm rot="0">
            <a:off x="497755" y="1782722"/>
            <a:ext cx="10000822" cy="1640605"/>
          </a:xfrm>
          <a:prstGeom prst="rect">
            <a:avLst/>
          </a:prstGeom>
        </p:spPr>
        <p:txBody>
          <a:bodyPr anchor="t" rtlCol="false" tIns="0" lIns="0" bIns="0" rIns="0">
            <a:spAutoFit/>
          </a:bodyPr>
          <a:lstStyle/>
          <a:p>
            <a:pPr algn="l">
              <a:lnSpc>
                <a:spcPts val="3296"/>
              </a:lnSpc>
            </a:pPr>
            <a:r>
              <a:rPr lang="en-US" sz="3200">
                <a:solidFill>
                  <a:srgbClr val="004AAD"/>
                </a:solidFill>
                <a:latin typeface="Quicksand"/>
                <a:ea typeface="Quicksand"/>
                <a:cs typeface="Quicksand"/>
                <a:sym typeface="Quicksand"/>
              </a:rPr>
              <a:t>Ce projet consiste à créer un site web pour un restaurant. Le site présente les différents types de repas proposés ainsi que des pages informatives et visuelles pour attirer les clients.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39357" y="-316594"/>
            <a:ext cx="18966714" cy="10920189"/>
            <a:chOff x="0" y="0"/>
            <a:chExt cx="4995349" cy="2876099"/>
          </a:xfrm>
        </p:grpSpPr>
        <p:sp>
          <p:nvSpPr>
            <p:cNvPr name="Freeform 3" id="3"/>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4" id="4"/>
            <p:cNvSpPr txBox="true"/>
            <p:nvPr/>
          </p:nvSpPr>
          <p:spPr>
            <a:xfrm>
              <a:off x="0" y="-38100"/>
              <a:ext cx="4995349" cy="29141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69884" y="2493187"/>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586568" y="2493187"/>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528964" y="2493187"/>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028700" y="1014982"/>
            <a:ext cx="9322423" cy="1095834"/>
          </a:xfrm>
          <a:prstGeom prst="rect">
            <a:avLst/>
          </a:prstGeom>
        </p:spPr>
        <p:txBody>
          <a:bodyPr anchor="t" rtlCol="false" tIns="0" lIns="0" bIns="0" rIns="0">
            <a:spAutoFit/>
          </a:bodyPr>
          <a:lstStyle/>
          <a:p>
            <a:pPr algn="l">
              <a:lnSpc>
                <a:spcPts val="8240"/>
              </a:lnSpc>
            </a:pPr>
            <a:r>
              <a:rPr lang="en-US" sz="8000" b="true">
                <a:solidFill>
                  <a:srgbClr val="004AAD"/>
                </a:solidFill>
                <a:latin typeface="Cocomat Pro Bold"/>
                <a:ea typeface="Cocomat Pro Bold"/>
                <a:cs typeface="Cocomat Pro Bold"/>
                <a:sym typeface="Cocomat Pro Bold"/>
              </a:rPr>
              <a:t>Objectifs du projet</a:t>
            </a:r>
          </a:p>
        </p:txBody>
      </p:sp>
      <p:sp>
        <p:nvSpPr>
          <p:cNvPr name="TextBox 15" id="15"/>
          <p:cNvSpPr txBox="true"/>
          <p:nvPr/>
        </p:nvSpPr>
        <p:spPr>
          <a:xfrm rot="0">
            <a:off x="1447040" y="2831774"/>
            <a:ext cx="14736650" cy="4709178"/>
          </a:xfrm>
          <a:prstGeom prst="rect">
            <a:avLst/>
          </a:prstGeom>
        </p:spPr>
        <p:txBody>
          <a:bodyPr anchor="t" rtlCol="false" tIns="0" lIns="0" bIns="0" rIns="0">
            <a:spAutoFit/>
          </a:bodyPr>
          <a:lstStyle/>
          <a:p>
            <a:pPr algn="ctr" marL="1115964" indent="-557982" lvl="1">
              <a:lnSpc>
                <a:spcPts val="5323"/>
              </a:lnSpc>
              <a:buFont typeface="Arial"/>
              <a:buChar char="•"/>
            </a:pPr>
            <a:r>
              <a:rPr lang="en-US" sz="5168">
                <a:solidFill>
                  <a:srgbClr val="004AAD"/>
                </a:solidFill>
                <a:latin typeface="Montaser Arabic"/>
                <a:ea typeface="Montaser Arabic"/>
                <a:cs typeface="Montaser Arabic"/>
                <a:sym typeface="Montaser Arabic"/>
              </a:rPr>
              <a:t>Présenter le restaurant et ses services.</a:t>
            </a:r>
          </a:p>
          <a:p>
            <a:pPr algn="ctr" marL="1115964" indent="-557982" lvl="1">
              <a:lnSpc>
                <a:spcPts val="5323"/>
              </a:lnSpc>
              <a:buFont typeface="Arial"/>
              <a:buChar char="•"/>
            </a:pPr>
            <a:r>
              <a:rPr lang="en-US" sz="5168">
                <a:solidFill>
                  <a:srgbClr val="004AAD"/>
                </a:solidFill>
                <a:latin typeface="Montaser Arabic"/>
                <a:ea typeface="Montaser Arabic"/>
                <a:cs typeface="Montaser Arabic"/>
                <a:sym typeface="Montaser Arabic"/>
              </a:rPr>
              <a:t>Afficher les différents types de repas : Petit-déjeuner, Déjeuner et Dîner.</a:t>
            </a:r>
          </a:p>
          <a:p>
            <a:pPr algn="ctr" marL="1115964" indent="-557982" lvl="1">
              <a:lnSpc>
                <a:spcPts val="5323"/>
              </a:lnSpc>
              <a:buFont typeface="Arial"/>
              <a:buChar char="•"/>
            </a:pPr>
            <a:r>
              <a:rPr lang="en-US" sz="5168">
                <a:solidFill>
                  <a:srgbClr val="004AAD"/>
                </a:solidFill>
                <a:latin typeface="Montaser Arabic"/>
                <a:ea typeface="Montaser Arabic"/>
                <a:cs typeface="Montaser Arabic"/>
                <a:sym typeface="Montaser Arabic"/>
              </a:rPr>
              <a:t>Créer une navigation claire et simple.</a:t>
            </a:r>
          </a:p>
          <a:p>
            <a:pPr algn="ctr" marL="1115964" indent="-557982" lvl="1">
              <a:lnSpc>
                <a:spcPts val="5323"/>
              </a:lnSpc>
              <a:buFont typeface="Arial"/>
              <a:buChar char="•"/>
            </a:pPr>
            <a:r>
              <a:rPr lang="en-US" sz="5168">
                <a:solidFill>
                  <a:srgbClr val="004AAD"/>
                </a:solidFill>
                <a:latin typeface="Montaser Arabic"/>
                <a:ea typeface="Montaser Arabic"/>
                <a:cs typeface="Montaser Arabic"/>
                <a:sym typeface="Montaser Arabic"/>
              </a:rPr>
              <a:t>Mettre en valeur les plats à l’aide d’images.</a:t>
            </a:r>
          </a:p>
          <a:p>
            <a:pPr algn="ctr">
              <a:lnSpc>
                <a:spcPts val="5323"/>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357" y="-316594"/>
            <a:ext cx="18966714" cy="10920189"/>
            <a:chOff x="0" y="0"/>
            <a:chExt cx="4995349" cy="2876099"/>
          </a:xfrm>
        </p:grpSpPr>
        <p:sp>
          <p:nvSpPr>
            <p:cNvPr name="Freeform 3" id="3"/>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4" id="4"/>
            <p:cNvSpPr txBox="true"/>
            <p:nvPr/>
          </p:nvSpPr>
          <p:spPr>
            <a:xfrm>
              <a:off x="0" y="-38100"/>
              <a:ext cx="4995349" cy="291419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176645" y="1426909"/>
            <a:ext cx="8450712" cy="6632384"/>
          </a:xfrm>
          <a:custGeom>
            <a:avLst/>
            <a:gdLst/>
            <a:ahLst/>
            <a:cxnLst/>
            <a:rect r="r" b="b" t="t" l="l"/>
            <a:pathLst>
              <a:path h="6632384" w="8450712">
                <a:moveTo>
                  <a:pt x="0" y="0"/>
                </a:moveTo>
                <a:lnTo>
                  <a:pt x="8450712" y="0"/>
                </a:lnTo>
                <a:lnTo>
                  <a:pt x="8450712" y="6632384"/>
                </a:lnTo>
                <a:lnTo>
                  <a:pt x="0" y="6632384"/>
                </a:lnTo>
                <a:lnTo>
                  <a:pt x="0" y="0"/>
                </a:lnTo>
                <a:close/>
              </a:path>
            </a:pathLst>
          </a:custGeom>
          <a:blipFill>
            <a:blip r:embed="rId2"/>
            <a:stretch>
              <a:fillRect l="-20232" t="0" r="-20232" b="0"/>
            </a:stretch>
          </a:blipFill>
        </p:spPr>
      </p:sp>
      <p:sp>
        <p:nvSpPr>
          <p:cNvPr name="TextBox 6" id="6"/>
          <p:cNvSpPr txBox="true"/>
          <p:nvPr/>
        </p:nvSpPr>
        <p:spPr>
          <a:xfrm rot="0">
            <a:off x="1028700" y="816930"/>
            <a:ext cx="8808588" cy="3163733"/>
          </a:xfrm>
          <a:prstGeom prst="rect">
            <a:avLst/>
          </a:prstGeom>
        </p:spPr>
        <p:txBody>
          <a:bodyPr anchor="t" rtlCol="false" tIns="0" lIns="0" bIns="0" rIns="0">
            <a:spAutoFit/>
          </a:bodyPr>
          <a:lstStyle/>
          <a:p>
            <a:pPr algn="l">
              <a:lnSpc>
                <a:spcPts val="8240"/>
              </a:lnSpc>
            </a:pPr>
            <a:r>
              <a:rPr lang="en-US" sz="8000" b="true">
                <a:solidFill>
                  <a:srgbClr val="004AAD"/>
                </a:solidFill>
                <a:latin typeface="Cocomat Pro Bold"/>
                <a:ea typeface="Cocomat Pro Bold"/>
                <a:cs typeface="Cocomat Pro Bold"/>
                <a:sym typeface="Cocomat Pro Bold"/>
              </a:rPr>
              <a:t> Structure du site</a:t>
            </a:r>
          </a:p>
          <a:p>
            <a:pPr algn="l">
              <a:lnSpc>
                <a:spcPts val="8240"/>
              </a:lnSpc>
            </a:pPr>
          </a:p>
          <a:p>
            <a:pPr algn="l">
              <a:lnSpc>
                <a:spcPts val="8240"/>
              </a:lnSpc>
            </a:pPr>
          </a:p>
        </p:txBody>
      </p:sp>
      <p:sp>
        <p:nvSpPr>
          <p:cNvPr name="TextBox 7" id="7"/>
          <p:cNvSpPr txBox="true"/>
          <p:nvPr/>
        </p:nvSpPr>
        <p:spPr>
          <a:xfrm rot="0">
            <a:off x="410114" y="2071550"/>
            <a:ext cx="9961697" cy="6677698"/>
          </a:xfrm>
          <a:prstGeom prst="rect">
            <a:avLst/>
          </a:prstGeom>
        </p:spPr>
        <p:txBody>
          <a:bodyPr anchor="t" rtlCol="false" tIns="0" lIns="0" bIns="0" rIns="0">
            <a:spAutoFit/>
          </a:bodyPr>
          <a:lstStyle/>
          <a:p>
            <a:pPr algn="l">
              <a:lnSpc>
                <a:spcPts val="4081"/>
              </a:lnSpc>
            </a:pPr>
            <a:r>
              <a:rPr lang="en-US" sz="3962">
                <a:solidFill>
                  <a:srgbClr val="004AAD"/>
                </a:solidFill>
                <a:latin typeface="Quicksand"/>
                <a:ea typeface="Quicksand"/>
                <a:cs typeface="Quicksand"/>
                <a:sym typeface="Quicksand"/>
              </a:rPr>
              <a:t>Le site du restaurant est composé des sections suivantes :</a:t>
            </a:r>
          </a:p>
          <a:p>
            <a:pPr algn="l" marL="855560" indent="-427780" lvl="1">
              <a:lnSpc>
                <a:spcPts val="4081"/>
              </a:lnSpc>
              <a:buFont typeface="Arial"/>
              <a:buChar char="•"/>
            </a:pPr>
            <a:r>
              <a:rPr lang="en-US" sz="3962">
                <a:solidFill>
                  <a:srgbClr val="004AAD"/>
                </a:solidFill>
                <a:latin typeface="Quicksand"/>
                <a:ea typeface="Quicksand"/>
                <a:cs typeface="Quicksand"/>
                <a:sym typeface="Quicksand"/>
              </a:rPr>
              <a:t>Accueil : présentation générale du restaurant.</a:t>
            </a:r>
          </a:p>
          <a:p>
            <a:pPr algn="l" marL="855560" indent="-427780" lvl="1">
              <a:lnSpc>
                <a:spcPts val="4081"/>
              </a:lnSpc>
              <a:buFont typeface="Arial"/>
              <a:buChar char="•"/>
            </a:pPr>
            <a:r>
              <a:rPr lang="en-US" sz="3962">
                <a:solidFill>
                  <a:srgbClr val="004AAD"/>
                </a:solidFill>
                <a:latin typeface="Quicksand"/>
                <a:ea typeface="Quicksand"/>
                <a:cs typeface="Quicksand"/>
                <a:sym typeface="Quicksand"/>
              </a:rPr>
              <a:t>Menu : liste des repas (petit-déjeuner, déjeuner, dîner).</a:t>
            </a:r>
          </a:p>
          <a:p>
            <a:pPr algn="l" marL="855560" indent="-427780" lvl="1">
              <a:lnSpc>
                <a:spcPts val="4081"/>
              </a:lnSpc>
              <a:buFont typeface="Arial"/>
              <a:buChar char="•"/>
            </a:pPr>
            <a:r>
              <a:rPr lang="en-US" sz="3962">
                <a:solidFill>
                  <a:srgbClr val="004AAD"/>
                </a:solidFill>
                <a:latin typeface="Quicksand"/>
                <a:ea typeface="Quicksand"/>
                <a:cs typeface="Quicksand"/>
                <a:sym typeface="Quicksand"/>
              </a:rPr>
              <a:t>Photos : galerie d’images des plats.</a:t>
            </a:r>
          </a:p>
          <a:p>
            <a:pPr algn="l" marL="855560" indent="-427780" lvl="1">
              <a:lnSpc>
                <a:spcPts val="4081"/>
              </a:lnSpc>
              <a:buFont typeface="Arial"/>
              <a:buChar char="•"/>
            </a:pPr>
            <a:r>
              <a:rPr lang="en-US" sz="3962">
                <a:solidFill>
                  <a:srgbClr val="004AAD"/>
                </a:solidFill>
                <a:latin typeface="Quicksand"/>
                <a:ea typeface="Quicksand"/>
                <a:cs typeface="Quicksand"/>
                <a:sym typeface="Quicksand"/>
              </a:rPr>
              <a:t>À propos de nous : description du restaurant et de son histoire.</a:t>
            </a:r>
          </a:p>
          <a:p>
            <a:pPr algn="l" marL="855560" indent="-427780" lvl="1">
              <a:lnSpc>
                <a:spcPts val="4081"/>
              </a:lnSpc>
              <a:buFont typeface="Arial"/>
              <a:buChar char="•"/>
            </a:pPr>
            <a:r>
              <a:rPr lang="en-US" sz="3962">
                <a:solidFill>
                  <a:srgbClr val="004AAD"/>
                </a:solidFill>
                <a:latin typeface="Quicksand"/>
                <a:ea typeface="Quicksand"/>
                <a:cs typeface="Quicksand"/>
                <a:sym typeface="Quicksand"/>
              </a:rPr>
              <a:t>Contact : informations de contact.</a:t>
            </a:r>
          </a:p>
          <a:p>
            <a:pPr algn="l">
              <a:lnSpc>
                <a:spcPts val="4081"/>
              </a:lnSpc>
            </a:pPr>
            <a:r>
              <a:rPr lang="en-US" sz="3962">
                <a:solidFill>
                  <a:srgbClr val="004AAD"/>
                </a:solidFill>
                <a:latin typeface="Quicksand"/>
                <a:ea typeface="Quicksand"/>
                <a:cs typeface="Quicksand"/>
                <a:sym typeface="Quicksand"/>
              </a:rPr>
              <a:t>La navigation (navbar) permet de passer facilement d’une section à une autre.</a:t>
            </a:r>
          </a:p>
          <a:p>
            <a:pPr algn="l">
              <a:lnSpc>
                <a:spcPts val="4081"/>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9357" y="-316594"/>
            <a:ext cx="18966714" cy="10920189"/>
            <a:chOff x="0" y="0"/>
            <a:chExt cx="4995349" cy="2876099"/>
          </a:xfrm>
        </p:grpSpPr>
        <p:sp>
          <p:nvSpPr>
            <p:cNvPr name="Freeform 3" id="3"/>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4" id="4"/>
            <p:cNvSpPr txBox="true"/>
            <p:nvPr/>
          </p:nvSpPr>
          <p:spPr>
            <a:xfrm>
              <a:off x="0" y="-76200"/>
              <a:ext cx="4995349" cy="2952299"/>
            </a:xfrm>
            <a:prstGeom prst="rect">
              <a:avLst/>
            </a:prstGeom>
          </p:spPr>
          <p:txBody>
            <a:bodyPr anchor="ctr" rtlCol="false" tIns="50800" lIns="50800" bIns="50800" rIns="50800"/>
            <a:lstStyle/>
            <a:p>
              <a:pPr algn="ctr">
                <a:lnSpc>
                  <a:spcPts val="4619"/>
                </a:lnSpc>
                <a:spcBef>
                  <a:spcPct val="0"/>
                </a:spcBef>
              </a:pPr>
            </a:p>
          </p:txBody>
        </p:sp>
      </p:grpSp>
      <p:sp>
        <p:nvSpPr>
          <p:cNvPr name="Freeform 5" id="5"/>
          <p:cNvSpPr/>
          <p:nvPr/>
        </p:nvSpPr>
        <p:spPr>
          <a:xfrm flipH="false" flipV="false" rot="0">
            <a:off x="8450415" y="2616457"/>
            <a:ext cx="9577878" cy="6025215"/>
          </a:xfrm>
          <a:custGeom>
            <a:avLst/>
            <a:gdLst/>
            <a:ahLst/>
            <a:cxnLst/>
            <a:rect r="r" b="b" t="t" l="l"/>
            <a:pathLst>
              <a:path h="6025215" w="9577878">
                <a:moveTo>
                  <a:pt x="0" y="0"/>
                </a:moveTo>
                <a:lnTo>
                  <a:pt x="9577878" y="0"/>
                </a:lnTo>
                <a:lnTo>
                  <a:pt x="9577878" y="6025215"/>
                </a:lnTo>
                <a:lnTo>
                  <a:pt x="0" y="6025215"/>
                </a:lnTo>
                <a:lnTo>
                  <a:pt x="0" y="0"/>
                </a:lnTo>
                <a:close/>
              </a:path>
            </a:pathLst>
          </a:custGeom>
          <a:blipFill>
            <a:blip r:embed="rId2"/>
            <a:stretch>
              <a:fillRect l="-4465" t="0" r="-4465" b="0"/>
            </a:stretch>
          </a:blipFill>
        </p:spPr>
      </p:sp>
      <p:sp>
        <p:nvSpPr>
          <p:cNvPr name="Freeform 6" id="6"/>
          <p:cNvSpPr/>
          <p:nvPr/>
        </p:nvSpPr>
        <p:spPr>
          <a:xfrm flipH="false" flipV="false" rot="0">
            <a:off x="328018" y="3716299"/>
            <a:ext cx="7823740" cy="5807473"/>
          </a:xfrm>
          <a:custGeom>
            <a:avLst/>
            <a:gdLst/>
            <a:ahLst/>
            <a:cxnLst/>
            <a:rect r="r" b="b" t="t" l="l"/>
            <a:pathLst>
              <a:path h="5807473" w="7823740">
                <a:moveTo>
                  <a:pt x="0" y="0"/>
                </a:moveTo>
                <a:lnTo>
                  <a:pt x="7823740" y="0"/>
                </a:lnTo>
                <a:lnTo>
                  <a:pt x="7823740" y="5807474"/>
                </a:lnTo>
                <a:lnTo>
                  <a:pt x="0" y="5807474"/>
                </a:lnTo>
                <a:lnTo>
                  <a:pt x="0" y="0"/>
                </a:lnTo>
                <a:close/>
              </a:path>
            </a:pathLst>
          </a:custGeom>
          <a:blipFill>
            <a:blip r:embed="rId3"/>
            <a:stretch>
              <a:fillRect l="0" t="0" r="-13110" b="0"/>
            </a:stretch>
          </a:blipFill>
        </p:spPr>
      </p:sp>
      <p:sp>
        <p:nvSpPr>
          <p:cNvPr name="TextBox 7" id="7"/>
          <p:cNvSpPr txBox="true"/>
          <p:nvPr/>
        </p:nvSpPr>
        <p:spPr>
          <a:xfrm rot="0">
            <a:off x="1028700" y="1014982"/>
            <a:ext cx="14843429" cy="1095834"/>
          </a:xfrm>
          <a:prstGeom prst="rect">
            <a:avLst/>
          </a:prstGeom>
        </p:spPr>
        <p:txBody>
          <a:bodyPr anchor="t" rtlCol="false" tIns="0" lIns="0" bIns="0" rIns="0">
            <a:spAutoFit/>
          </a:bodyPr>
          <a:lstStyle/>
          <a:p>
            <a:pPr algn="l">
              <a:lnSpc>
                <a:spcPts val="8240"/>
              </a:lnSpc>
            </a:pPr>
            <a:r>
              <a:rPr lang="en-US" sz="8000" b="true">
                <a:solidFill>
                  <a:srgbClr val="004AAD"/>
                </a:solidFill>
                <a:latin typeface="Cocomat Pro Bold"/>
                <a:ea typeface="Cocomat Pro Bold"/>
                <a:cs typeface="Cocomat Pro Bold"/>
                <a:sym typeface="Cocomat Pro Bold"/>
              </a:rPr>
              <a:t>Projet 2 : Site Web Personnel</a:t>
            </a:r>
          </a:p>
        </p:txBody>
      </p:sp>
      <p:sp>
        <p:nvSpPr>
          <p:cNvPr name="TextBox 8" id="8"/>
          <p:cNvSpPr txBox="true"/>
          <p:nvPr/>
        </p:nvSpPr>
        <p:spPr>
          <a:xfrm rot="0">
            <a:off x="1387293" y="2158441"/>
            <a:ext cx="14126242" cy="963657"/>
          </a:xfrm>
          <a:prstGeom prst="rect">
            <a:avLst/>
          </a:prstGeom>
        </p:spPr>
        <p:txBody>
          <a:bodyPr anchor="t" rtlCol="false" tIns="0" lIns="0" bIns="0" rIns="0">
            <a:spAutoFit/>
          </a:bodyPr>
          <a:lstStyle/>
          <a:p>
            <a:pPr algn="l" marL="777238" indent="-388619" lvl="1">
              <a:lnSpc>
                <a:spcPts val="3707"/>
              </a:lnSpc>
              <a:buFont typeface="Arial"/>
              <a:buChar char="•"/>
            </a:pPr>
            <a:r>
              <a:rPr lang="en-US" sz="3599" spc="-10">
                <a:solidFill>
                  <a:srgbClr val="004AAD"/>
                </a:solidFill>
                <a:latin typeface="Quicksand"/>
                <a:ea typeface="Quicksand"/>
                <a:cs typeface="Quicksand"/>
                <a:sym typeface="Quicksand"/>
              </a:rPr>
              <a:t> </a:t>
            </a:r>
            <a:r>
              <a:rPr lang="en-US" sz="3599" spc="-10">
                <a:solidFill>
                  <a:srgbClr val="004AAD"/>
                </a:solidFill>
                <a:latin typeface="Quicksand"/>
                <a:ea typeface="Quicksand"/>
                <a:cs typeface="Quicksand"/>
                <a:sym typeface="Quicksand"/>
              </a:rPr>
              <a:t>Il </a:t>
            </a:r>
            <a:r>
              <a:rPr lang="en-US" sz="3599" spc="-10">
                <a:solidFill>
                  <a:srgbClr val="004AAD"/>
                </a:solidFill>
                <a:latin typeface="Quicksand"/>
                <a:ea typeface="Quicksand"/>
                <a:cs typeface="Quicksand"/>
                <a:sym typeface="Quicksand"/>
              </a:rPr>
              <a:t>sert à présenter mes projets, mes informations personnelles et mes moyens de contact.</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39357" y="-316594"/>
            <a:ext cx="18966714" cy="10920189"/>
            <a:chOff x="0" y="0"/>
            <a:chExt cx="4995349" cy="2876099"/>
          </a:xfrm>
        </p:grpSpPr>
        <p:sp>
          <p:nvSpPr>
            <p:cNvPr name="Freeform 3" id="3"/>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4" id="4"/>
            <p:cNvSpPr txBox="true"/>
            <p:nvPr/>
          </p:nvSpPr>
          <p:spPr>
            <a:xfrm>
              <a:off x="0" y="-38100"/>
              <a:ext cx="4995349" cy="291419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014982"/>
            <a:ext cx="10499360" cy="1095834"/>
          </a:xfrm>
          <a:prstGeom prst="rect">
            <a:avLst/>
          </a:prstGeom>
        </p:spPr>
        <p:txBody>
          <a:bodyPr anchor="t" rtlCol="false" tIns="0" lIns="0" bIns="0" rIns="0">
            <a:spAutoFit/>
          </a:bodyPr>
          <a:lstStyle/>
          <a:p>
            <a:pPr algn="l" marL="0" indent="0" lvl="0">
              <a:lnSpc>
                <a:spcPts val="8240"/>
              </a:lnSpc>
              <a:spcBef>
                <a:spcPct val="0"/>
              </a:spcBef>
            </a:pPr>
            <a:r>
              <a:rPr lang="en-US" b="true" sz="8000">
                <a:solidFill>
                  <a:srgbClr val="004AAD"/>
                </a:solidFill>
                <a:latin typeface="Cocomat Pro Bold"/>
                <a:ea typeface="Cocomat Pro Bold"/>
                <a:cs typeface="Cocomat Pro Bold"/>
                <a:sym typeface="Cocomat Pro Bold"/>
              </a:rPr>
              <a:t>Objec</a:t>
            </a:r>
            <a:r>
              <a:rPr lang="en-US" b="true" sz="8000" strike="noStrike" u="none">
                <a:solidFill>
                  <a:srgbClr val="004AAD"/>
                </a:solidFill>
                <a:latin typeface="Cocomat Pro Bold"/>
                <a:ea typeface="Cocomat Pro Bold"/>
                <a:cs typeface="Cocomat Pro Bold"/>
                <a:sym typeface="Cocomat Pro Bold"/>
              </a:rPr>
              <a:t>tifs du projet</a:t>
            </a:r>
          </a:p>
        </p:txBody>
      </p:sp>
      <p:sp>
        <p:nvSpPr>
          <p:cNvPr name="TextBox 6" id="6"/>
          <p:cNvSpPr txBox="true"/>
          <p:nvPr/>
        </p:nvSpPr>
        <p:spPr>
          <a:xfrm rot="0">
            <a:off x="1573407" y="2586714"/>
            <a:ext cx="14126242" cy="1738584"/>
          </a:xfrm>
          <a:prstGeom prst="rect">
            <a:avLst/>
          </a:prstGeom>
        </p:spPr>
        <p:txBody>
          <a:bodyPr anchor="t" rtlCol="false" tIns="0" lIns="0" bIns="0" rIns="0">
            <a:spAutoFit/>
          </a:bodyPr>
          <a:lstStyle/>
          <a:p>
            <a:pPr algn="l" marL="906775" indent="-453388" lvl="1">
              <a:lnSpc>
                <a:spcPts val="4325"/>
              </a:lnSpc>
              <a:buFont typeface="Arial"/>
              <a:buChar char="•"/>
            </a:pPr>
            <a:r>
              <a:rPr lang="en-US" sz="4199" spc="-12">
                <a:solidFill>
                  <a:srgbClr val="004AAD"/>
                </a:solidFill>
                <a:latin typeface="Times New Roman MT"/>
                <a:ea typeface="Times New Roman MT"/>
                <a:cs typeface="Times New Roman MT"/>
                <a:sym typeface="Times New Roman MT"/>
              </a:rPr>
              <a:t>Me</a:t>
            </a:r>
            <a:r>
              <a:rPr lang="en-US" sz="4199" spc="-12">
                <a:solidFill>
                  <a:srgbClr val="004AAD"/>
                </a:solidFill>
                <a:latin typeface="Times New Roman MT"/>
                <a:ea typeface="Times New Roman MT"/>
                <a:cs typeface="Times New Roman MT"/>
                <a:sym typeface="Times New Roman MT"/>
              </a:rPr>
              <a:t> pré</a:t>
            </a:r>
            <a:r>
              <a:rPr lang="en-US" sz="4199" spc="-12">
                <a:solidFill>
                  <a:srgbClr val="004AAD"/>
                </a:solidFill>
                <a:latin typeface="Times New Roman MT"/>
                <a:ea typeface="Times New Roman MT"/>
                <a:cs typeface="Times New Roman MT"/>
                <a:sym typeface="Times New Roman MT"/>
              </a:rPr>
              <a:t>senter en tant que développeur débutant.</a:t>
            </a:r>
          </a:p>
          <a:p>
            <a:pPr algn="l" marL="906775" indent="-453388" lvl="1">
              <a:lnSpc>
                <a:spcPts val="4325"/>
              </a:lnSpc>
              <a:buFont typeface="Arial"/>
              <a:buChar char="•"/>
            </a:pPr>
            <a:r>
              <a:rPr lang="en-US" sz="4199" spc="-12">
                <a:solidFill>
                  <a:srgbClr val="004AAD"/>
                </a:solidFill>
                <a:latin typeface="Times New Roman MT"/>
                <a:ea typeface="Times New Roman MT"/>
                <a:cs typeface="Times New Roman MT"/>
                <a:sym typeface="Times New Roman MT"/>
              </a:rPr>
              <a:t>Regrouper mes projets dans un seul site.</a:t>
            </a:r>
          </a:p>
          <a:p>
            <a:pPr algn="l" marL="906775" indent="-453388" lvl="1">
              <a:lnSpc>
                <a:spcPts val="4325"/>
              </a:lnSpc>
              <a:buFont typeface="Arial"/>
              <a:buChar char="•"/>
            </a:pPr>
            <a:r>
              <a:rPr lang="en-US" sz="4199" spc="-12">
                <a:solidFill>
                  <a:srgbClr val="004AAD"/>
                </a:solidFill>
                <a:latin typeface="Times New Roman MT"/>
                <a:ea typeface="Times New Roman MT"/>
                <a:cs typeface="Times New Roman MT"/>
                <a:sym typeface="Times New Roman MT"/>
              </a:rPr>
              <a:t>Faciliter le contact avec les visiteurs.</a:t>
            </a:r>
          </a:p>
        </p:txBody>
      </p:sp>
      <p:sp>
        <p:nvSpPr>
          <p:cNvPr name="TextBox 7" id="7"/>
          <p:cNvSpPr txBox="true"/>
          <p:nvPr/>
        </p:nvSpPr>
        <p:spPr>
          <a:xfrm rot="0">
            <a:off x="1313836" y="4657496"/>
            <a:ext cx="10499360" cy="1095834"/>
          </a:xfrm>
          <a:prstGeom prst="rect">
            <a:avLst/>
          </a:prstGeom>
        </p:spPr>
        <p:txBody>
          <a:bodyPr anchor="t" rtlCol="false" tIns="0" lIns="0" bIns="0" rIns="0">
            <a:spAutoFit/>
          </a:bodyPr>
          <a:lstStyle/>
          <a:p>
            <a:pPr algn="l" marL="0" indent="0" lvl="0">
              <a:lnSpc>
                <a:spcPts val="8240"/>
              </a:lnSpc>
              <a:spcBef>
                <a:spcPct val="0"/>
              </a:spcBef>
            </a:pPr>
            <a:r>
              <a:rPr lang="en-US" b="true" sz="8000">
                <a:solidFill>
                  <a:srgbClr val="004AAD"/>
                </a:solidFill>
                <a:latin typeface="Cocomat Pro Bold"/>
                <a:ea typeface="Cocomat Pro Bold"/>
                <a:cs typeface="Cocomat Pro Bold"/>
                <a:sym typeface="Cocomat Pro Bold"/>
              </a:rPr>
              <a:t>Struc</a:t>
            </a:r>
            <a:r>
              <a:rPr lang="en-US" b="true" sz="8000" strike="noStrike" u="none">
                <a:solidFill>
                  <a:srgbClr val="004AAD"/>
                </a:solidFill>
                <a:latin typeface="Cocomat Pro Bold"/>
                <a:ea typeface="Cocomat Pro Bold"/>
                <a:cs typeface="Cocomat Pro Bold"/>
                <a:sym typeface="Cocomat Pro Bold"/>
              </a:rPr>
              <a:t>ture du site</a:t>
            </a:r>
          </a:p>
        </p:txBody>
      </p:sp>
      <p:sp>
        <p:nvSpPr>
          <p:cNvPr name="TextBox 8" id="8"/>
          <p:cNvSpPr txBox="true"/>
          <p:nvPr/>
        </p:nvSpPr>
        <p:spPr>
          <a:xfrm rot="0">
            <a:off x="1313836" y="5953159"/>
            <a:ext cx="16546478" cy="3305141"/>
          </a:xfrm>
          <a:prstGeom prst="rect">
            <a:avLst/>
          </a:prstGeom>
        </p:spPr>
        <p:txBody>
          <a:bodyPr anchor="t" rtlCol="false" tIns="0" lIns="0" bIns="0" rIns="0">
            <a:spAutoFit/>
          </a:bodyPr>
          <a:lstStyle/>
          <a:p>
            <a:pPr algn="l" marL="1062132" indent="-531066" lvl="1">
              <a:lnSpc>
                <a:spcPts val="5067"/>
              </a:lnSpc>
              <a:buFont typeface="Arial"/>
              <a:buChar char="•"/>
            </a:pPr>
            <a:r>
              <a:rPr lang="en-US" sz="4919" spc="-14">
                <a:solidFill>
                  <a:srgbClr val="004AAD"/>
                </a:solidFill>
                <a:latin typeface="Times New Roman MT"/>
                <a:ea typeface="Times New Roman MT"/>
                <a:cs typeface="Times New Roman MT"/>
                <a:sym typeface="Times New Roman MT"/>
              </a:rPr>
              <a:t>Accueil :</a:t>
            </a:r>
            <a:r>
              <a:rPr lang="en-US" sz="4919" spc="-14">
                <a:solidFill>
                  <a:srgbClr val="004AAD"/>
                </a:solidFill>
                <a:latin typeface="Times New Roman MT"/>
                <a:ea typeface="Times New Roman MT"/>
                <a:cs typeface="Times New Roman MT"/>
                <a:sym typeface="Times New Roman MT"/>
              </a:rPr>
              <a:t> pré</a:t>
            </a:r>
            <a:r>
              <a:rPr lang="en-US" sz="4919" spc="-14">
                <a:solidFill>
                  <a:srgbClr val="004AAD"/>
                </a:solidFill>
                <a:latin typeface="Times New Roman MT"/>
                <a:ea typeface="Times New Roman MT"/>
                <a:cs typeface="Times New Roman MT"/>
                <a:sym typeface="Times New Roman MT"/>
              </a:rPr>
              <a:t>sentation rapide.</a:t>
            </a:r>
          </a:p>
          <a:p>
            <a:pPr algn="l" marL="1062132" indent="-531066" lvl="1">
              <a:lnSpc>
                <a:spcPts val="5067"/>
              </a:lnSpc>
              <a:buFont typeface="Arial"/>
              <a:buChar char="•"/>
            </a:pPr>
            <a:r>
              <a:rPr lang="en-US" sz="4919" spc="-14">
                <a:solidFill>
                  <a:srgbClr val="004AAD"/>
                </a:solidFill>
                <a:latin typeface="Times New Roman MT"/>
                <a:ea typeface="Times New Roman MT"/>
                <a:cs typeface="Times New Roman MT"/>
                <a:sym typeface="Times New Roman MT"/>
              </a:rPr>
              <a:t>Mes projets : liste de mes réalisations .</a:t>
            </a:r>
          </a:p>
          <a:p>
            <a:pPr algn="l" marL="1062132" indent="-531066" lvl="1">
              <a:lnSpc>
                <a:spcPts val="5067"/>
              </a:lnSpc>
              <a:buFont typeface="Arial"/>
              <a:buChar char="•"/>
            </a:pPr>
            <a:r>
              <a:rPr lang="en-US" sz="4919" spc="-14">
                <a:solidFill>
                  <a:srgbClr val="004AAD"/>
                </a:solidFill>
                <a:latin typeface="Times New Roman MT"/>
                <a:ea typeface="Times New Roman MT"/>
                <a:cs typeface="Times New Roman MT"/>
                <a:sym typeface="Times New Roman MT"/>
              </a:rPr>
              <a:t>À propos de moi : informations personnelles.</a:t>
            </a:r>
          </a:p>
          <a:p>
            <a:pPr algn="l" marL="1062132" indent="-531066" lvl="1">
              <a:lnSpc>
                <a:spcPts val="5067"/>
              </a:lnSpc>
              <a:buFont typeface="Arial"/>
              <a:buChar char="•"/>
            </a:pPr>
            <a:r>
              <a:rPr lang="en-US" sz="4919" spc="-14">
                <a:solidFill>
                  <a:srgbClr val="004AAD"/>
                </a:solidFill>
                <a:latin typeface="Times New Roman MT"/>
                <a:ea typeface="Times New Roman MT"/>
                <a:cs typeface="Times New Roman MT"/>
                <a:sym typeface="Times New Roman MT"/>
              </a:rPr>
              <a:t>Cont</a:t>
            </a:r>
            <a:r>
              <a:rPr lang="en-US" sz="4919" spc="-14">
                <a:solidFill>
                  <a:srgbClr val="004AAD"/>
                </a:solidFill>
                <a:latin typeface="Times New Roman MT"/>
                <a:ea typeface="Times New Roman MT"/>
                <a:cs typeface="Times New Roman MT"/>
                <a:sym typeface="Times New Roman MT"/>
              </a:rPr>
              <a:t>act : formulaire ou informations de contact.</a:t>
            </a:r>
          </a:p>
          <a:p>
            <a:pPr algn="l">
              <a:lnSpc>
                <a:spcPts val="5067"/>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DAGrrb0zidE</dc:identifier>
  <dcterms:modified xsi:type="dcterms:W3CDTF">2011-08-01T06:04:30Z</dcterms:modified>
  <cp:revision>1</cp:revision>
  <dc:title>Coloré Entreprise Présentation de Projet Marketing Illustratif</dc:title>
</cp:coreProperties>
</file>